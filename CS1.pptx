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Goal: show why security affects every department, using a real case, and give you two concrete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 began around 1 Sept 2025; JLR shut systems down to contain it. Reports point to a software vulnerability being exploited. The UK government backed a £1.5bn loan guarantee. Figures are estimates; check the latest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a short news clip about the shutdown and supplier layoffs (add your chosen link or file here). Then ask: which of our own processes would stop if one system went down?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with real numbers from the security team (blocked attacks, phishing attempts, scans per month). Use a recent, concrete example if one can be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follows IBM's (ibm.com/think/topics/shadow-it). Stress: it usually starts with good intentions, people want to get work done faster. Focus here is on systems, servers and networks that central IT does not know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JLR: attackers need only one weak spot. Unknown systems are exactly where weak spots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process exists to protect the company and its products, not to slow people down. Adapt the steps to your internal procurement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company-specific requirements here (for example regulatory or customer security requirements) if you want to name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discussion: what slows you down today that makes shadow IT tempting?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2921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WORKSHOP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1847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is safety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6999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we keep our company strong and resilient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Jaguar Land Rover 2025: a cyber attack stops production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3302050"/>
            <a:ext cx="3386634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4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355605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00" y="4064050"/>
            <a:ext cx="2964993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weeks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66800" y="5019080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production at a standstill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02634" y="3302050"/>
            <a:ext cx="3386683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8" name="Image 1" descr="Coi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34" y="355605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6634" y="4064050"/>
            <a:ext cx="2965044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£1.9bn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4656634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to the UK economy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92517" y="3302050"/>
            <a:ext cx="3386683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12" name="Image 2" descr="Factor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17" y="355605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6517" y="4064050"/>
            <a:ext cx="2965044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4800" dirty="0"/>
          </a:p>
        </p:txBody>
      </p:sp>
      <p:sp>
        <p:nvSpPr>
          <p:cNvPr id="14" name="Text 9"/>
          <p:cNvSpPr/>
          <p:nvPr/>
        </p:nvSpPr>
        <p:spPr>
          <a:xfrm>
            <a:off x="8246517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affected, mostly suppliers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5234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A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 Monitoring Centre estimate, as reported Oct 2025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on people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4577110"/>
            <a:ext cx="6360170" cy="1264890"/>
          </a:xfrm>
          <a:prstGeom prst="roundRect">
            <a:avLst>
              <a:gd name="adj" fmla="val 8032"/>
            </a:avLst>
          </a:prstGeom>
          <a:solidFill>
            <a:srgbClr val="1F2630"/>
          </a:solidFill>
          <a:ln/>
        </p:spPr>
        <p:txBody>
          <a:bodyPr wrap="square" lIns="224242" tIns="224242" rIns="224242" bIns="224242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[Play short video here]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77770" y="457711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layoffs and pay cuts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77770" y="504954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gone for small firms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70" y="552197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working with pen and paper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under attack too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6122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company is a target every day. Attackers need only one weak spot, so we need everybody's help.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2733080"/>
            <a:ext cx="3386634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5" name="Image 0" descr="Targ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98708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3495080"/>
            <a:ext cx="313263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 / month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66800" y="4307880"/>
            <a:ext cx="296499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and attempts against our company [add data]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2634" y="2733080"/>
            <a:ext cx="3386683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9" name="Image 1" descr="Open pad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34" y="298708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6634" y="3495080"/>
            <a:ext cx="296504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weak spot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656634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enough for an attacker to get in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92517" y="2733080"/>
            <a:ext cx="3386683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13" name="Image 2" descr="Peop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17" y="298708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6517" y="3495080"/>
            <a:ext cx="296504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8246517" y="4307880"/>
            <a:ext cx="29650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part of our defence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shadow IT?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1331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Software, hardware and IT resources used on the company network without the approval, knowledge or oversight of central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3640485"/>
            <a:ext cx="3380284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5" name="Image 0" descr="Serv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89766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440566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and systems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478155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servers, cloud VMs, test systems, databases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05809" y="3640485"/>
            <a:ext cx="3380333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9" name="Image 1" descr="Networ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389766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440566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2984" y="478155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Wi-Fi access points, hotspots, VPNs, unmanaged switches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995692" y="3640485"/>
            <a:ext cx="3380333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3" name="Image 2" descr="Lapto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867" y="389766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67" y="440566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devices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2867" y="478155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Unvetted software, own laptops, USB sticks, smart gadgets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shadow IT is a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Hidden ey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5768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731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protect or patch what it does not know exists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083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Data leav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25768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55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655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data ends up on services we do not control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007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2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257686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79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579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or vulnerable software becomes an easy way in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8931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6" name="Image 3" descr="Checklis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2576860"/>
            <a:ext cx="40640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03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1503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legal, customer and safety requirements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2800" y="552197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forgotten tool can be the entry point, as in any large incident.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unapproved devices and orders are a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726085"/>
            <a:ext cx="5175250" cy="311274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9832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49126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56970" y="3867150"/>
            <a:ext cx="4709287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devices can carry malware or be tampered with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our asset list, so never patched or monitored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USB stick or gadget can bridge into production systems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Unvetted supplier: no security review, no support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00775" y="2726085"/>
            <a:ext cx="5175250" cy="311274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Approv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29832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7950" y="349126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way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41770" y="3867150"/>
            <a:ext cx="4709287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approved catalogue first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request with the business need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and security review before you buy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it fast? Ask, we will help you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order and use only approved products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Shie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5768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731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Vetted, hardened, patched and monitored by 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083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Checklis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25768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55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65550" y="3460750"/>
            <a:ext cx="20275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legal, customer and audit requirements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007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2" name="Image 2" descr="Factor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257686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79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579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supply chain and no risk to production systems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8931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6" name="Image 3" descr="Suppo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2576860"/>
            <a:ext cx="40640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03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1503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Licences, updates and a contact when something fails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2800" y="552197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means known, checked and protected.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IT already exists. Let's find it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64675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Report unapproved systems, devices or orders, no blame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241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Work with central IT: bring your needs, we find a safe 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8354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Together we become more resilient and stop attacks early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stops, no layoffs: security protects our safety and our jobs. Questions? [security team contact]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ecurity Awareness Workshop">
  <a:themeElements>
    <a:clrScheme name="Cybersecurity Awareness Workshop">
      <a:dk1>
        <a:srgbClr val="14181F"/>
      </a:dk1>
      <a:lt1>
        <a:srgbClr val="F4F1EA"/>
      </a:lt1>
      <a:dk2>
        <a:srgbClr val="2A2E33"/>
      </a:dk2>
      <a:lt2>
        <a:srgbClr val="BCBBB7"/>
      </a:lt2>
      <a:accent1>
        <a:srgbClr val="F08A4B"/>
      </a:accent1>
      <a:accent2>
        <a:srgbClr val="C2531A"/>
      </a:accent2>
      <a:accent3>
        <a:srgbClr val="1F6F43"/>
      </a:accent3>
      <a:accent4>
        <a:srgbClr val="C9C5BB"/>
      </a:accent4>
      <a:accent5>
        <a:srgbClr val="A8A49A"/>
      </a:accent5>
      <a:accent6>
        <a:srgbClr val="9AA0A6"/>
      </a:accent6>
      <a:hlink>
        <a:srgbClr val="0563C1"/>
      </a:hlink>
      <a:folHlink>
        <a:srgbClr val="954F72"/>
      </a:folHlink>
    </a:clrScheme>
    <a:fontScheme name="Cybersecurity Awareness Worksh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Workshop</dc:title>
  <dc:subject/>
  <dc:creator/>
  <cp:lastModifiedBy/>
  <cp:revision>1</cp:revision>
  <dcterms:created xsi:type="dcterms:W3CDTF">2026-10-30T13:36:46Z</dcterms:created>
  <dcterms:modified xsi:type="dcterms:W3CDTF">2026-10-30T13:36:46Z</dcterms:modified>
</cp:coreProperties>
</file>